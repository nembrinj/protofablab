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22"/>
    <p:restoredTop sz="85835"/>
  </p:normalViewPr>
  <p:slideViewPr>
    <p:cSldViewPr snapToGrid="0">
      <p:cViewPr varScale="1">
        <p:scale>
          <a:sx n="85" d="100"/>
          <a:sy n="85" d="100"/>
        </p:scale>
        <p:origin x="192" y="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4620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2.png"/><Relationship Id="rId7" Type="http://schemas.openxmlformats.org/officeDocument/2006/relationships/image" Target="../media/image8.png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1.png"/><Relationship Id="rId10" Type="http://schemas.openxmlformats.org/officeDocument/2006/relationships/image" Target="../media/image15.png"/><Relationship Id="rId4" Type="http://schemas.openxmlformats.org/officeDocument/2006/relationships/image" Target="../media/image4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7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548640"/>
            <a:ext cx="4800600" cy="5760720"/>
          </a:xfrm>
          <a:prstGeom prst="roundRect">
            <a:avLst>
              <a:gd name="adj" fmla="val 5714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" name="Shape 1"/>
          <p:cNvSpPr/>
          <p:nvPr/>
        </p:nvSpPr>
        <p:spPr>
          <a:xfrm>
            <a:off x="7680960" y="1828800"/>
            <a:ext cx="3154680" cy="3154680"/>
          </a:xfrm>
          <a:prstGeom prst="ellipse">
            <a:avLst/>
          </a:prstGeom>
          <a:solidFill>
            <a:srgbClr val="0B1F3A"/>
          </a:solidFill>
          <a:ln w="15875">
            <a:solidFill>
              <a:srgbClr val="1E4A78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4" name="Shape 2"/>
          <p:cNvSpPr/>
          <p:nvPr/>
        </p:nvSpPr>
        <p:spPr>
          <a:xfrm>
            <a:off x="8183880" y="1874520"/>
            <a:ext cx="1074420" cy="1554480"/>
          </a:xfrm>
          <a:prstGeom prst="line">
            <a:avLst/>
          </a:prstGeom>
          <a:noFill/>
          <a:ln w="25400">
            <a:solidFill>
              <a:srgbClr val="0E9AA7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5" name="Shape 3"/>
          <p:cNvSpPr/>
          <p:nvPr/>
        </p:nvSpPr>
        <p:spPr>
          <a:xfrm flipH="1">
            <a:off x="9258300" y="1874520"/>
            <a:ext cx="1303020" cy="1554480"/>
          </a:xfrm>
          <a:prstGeom prst="line">
            <a:avLst/>
          </a:prstGeom>
          <a:noFill/>
          <a:ln w="25400">
            <a:solidFill>
              <a:srgbClr val="0E9AA7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6" name="Shape 4"/>
          <p:cNvSpPr/>
          <p:nvPr/>
        </p:nvSpPr>
        <p:spPr>
          <a:xfrm>
            <a:off x="9258300" y="3429000"/>
            <a:ext cx="114300" cy="1920240"/>
          </a:xfrm>
          <a:prstGeom prst="line">
            <a:avLst/>
          </a:prstGeom>
          <a:noFill/>
          <a:ln w="25400">
            <a:solidFill>
              <a:srgbClr val="0E9AA7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7726680" y="141732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8" name="Image 0" descr="/agent/turn1/workspace/output/_anthropic_assets/icon-camera-cd4684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16459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5236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104120" y="141732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1" name="Image 1" descr="/agent/turn1/workspace/output/_anthropic_assets/icon-heart-pulse-debaf9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0" y="1645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829800" y="2377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915400" y="4892040"/>
            <a:ext cx="91440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4" name="Image 2" descr="/agent/turn1/workspace/output/_anthropic_assets/icon-checkmark-circle-b5dcdd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51206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41080" y="58521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526780" y="2697480"/>
            <a:ext cx="1463040" cy="1463040"/>
          </a:xfrm>
          <a:prstGeom prst="ellipse">
            <a:avLst/>
          </a:prstGeom>
          <a:solidFill>
            <a:srgbClr val="0E9AA7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7" name="Image 3" descr="/agent/turn1/workspace/output/_anthropic_assets/icon-bot-0988e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2540" y="3063240"/>
            <a:ext cx="731520" cy="73152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691372" y="2862072"/>
            <a:ext cx="1133856" cy="113385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9" name="Image 4" descr="/agent/turn1/workspace/output/_anthropic_assets/icon-bot-0988e01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828" y="3081528"/>
            <a:ext cx="694944" cy="6949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40080" y="11887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· 2026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40080" y="169164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Robotic Training Assistant</a:t>
            </a:r>
            <a:endParaRPr lang="en-US" sz="4600" dirty="0"/>
          </a:p>
        </p:txBody>
      </p:sp>
      <p:sp>
        <p:nvSpPr>
          <p:cNvPr id="22" name="Text 15"/>
          <p:cNvSpPr/>
          <p:nvPr/>
        </p:nvSpPr>
        <p:spPr>
          <a:xfrm>
            <a:off x="640080" y="38404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robotics, movement monitoring and personalized feedback to understand individual training performance</a:t>
            </a:r>
            <a:endParaRPr lang="en-US" sz="2000" dirty="0"/>
          </a:p>
        </p:txBody>
      </p:sp>
      <p:sp>
        <p:nvSpPr>
          <p:cNvPr id="23" name="Shape 16"/>
          <p:cNvSpPr/>
          <p:nvPr/>
        </p:nvSpPr>
        <p:spPr>
          <a:xfrm>
            <a:off x="640080" y="5257800"/>
            <a:ext cx="3242372" cy="384048"/>
          </a:xfrm>
          <a:prstGeom prst="roundRect">
            <a:avLst>
              <a:gd name="adj" fmla="val 50000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4" name="Text 17"/>
          <p:cNvSpPr/>
          <p:nvPr/>
        </p:nvSpPr>
        <p:spPr>
          <a:xfrm>
            <a:off x="640080" y="525780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project presentation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Training Assistance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(2026)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297680" cy="3246120"/>
          </a:xfrm>
          <a:prstGeom prst="roundRect">
            <a:avLst>
              <a:gd name="adj" fmla="val 507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7" name="Text 5"/>
          <p:cNvSpPr/>
          <p:nvPr/>
        </p:nvSpPr>
        <p:spPr>
          <a:xfrm>
            <a:off x="868680" y="17830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657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personalized training assistance for people with mobility impairments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120640" y="14813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SHOULD BE ABLE TO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120640" y="1874520"/>
            <a:ext cx="32004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4" name="Shape 11"/>
          <p:cNvSpPr/>
          <p:nvPr/>
        </p:nvSpPr>
        <p:spPr>
          <a:xfrm>
            <a:off x="5303520" y="2057400"/>
            <a:ext cx="640080" cy="64008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5" name="Image 1" descr="/agent/turn1/workspace/output/_anthropic_assets/icon-video-9611a1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39" y="221101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080760" y="20391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movements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530352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the person during exercise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503920" y="1874520"/>
            <a:ext cx="32004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9" name="Shape 15"/>
          <p:cNvSpPr/>
          <p:nvPr/>
        </p:nvSpPr>
        <p:spPr>
          <a:xfrm>
            <a:off x="8686800" y="2057400"/>
            <a:ext cx="640080" cy="64008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0" name="Image 2" descr="/agent/turn1/workspace/output/_anthropic_assets/icon-data-bar-vertical-413856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419" y="221101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64040" y="203911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performance data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686800" y="27432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how the training is going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120640" y="3429000"/>
            <a:ext cx="32004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4" name="Shape 19"/>
          <p:cNvSpPr/>
          <p:nvPr/>
        </p:nvSpPr>
        <p:spPr>
          <a:xfrm>
            <a:off x="5303520" y="3611880"/>
            <a:ext cx="640080" cy="64008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5" name="Image 3" descr="/agent/turn1/workspace/output/_anthropic_assets/icon-camera-cd4684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39" y="376549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080760" y="35935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suitable </a:t>
            </a: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</a:t>
            </a: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530352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camera direction to locate</a:t>
            </a: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user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8503920" y="3429000"/>
            <a:ext cx="32004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9" name="Shape 23"/>
          <p:cNvSpPr/>
          <p:nvPr/>
        </p:nvSpPr>
        <p:spPr>
          <a:xfrm>
            <a:off x="8686800" y="3611880"/>
            <a:ext cx="640080" cy="64008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0" name="Image 4" descr="/agent/turn1/workspace/output/_anthropic_assets/icon-chat-4dd41bd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0419" y="376549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464040" y="35935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feedback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8686800" y="4297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corrections during training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548640" y="5074920"/>
            <a:ext cx="11109960" cy="1097280"/>
          </a:xfrm>
          <a:prstGeom prst="roundRect">
            <a:avLst>
              <a:gd name="adj" fmla="val 13333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34" name="Text 27"/>
          <p:cNvSpPr/>
          <p:nvPr/>
        </p:nvSpPr>
        <p:spPr>
          <a:xfrm>
            <a:off x="822960" y="512064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proposal</a:t>
            </a:r>
            <a:endParaRPr lang="en-US" sz="1600" dirty="0"/>
          </a:p>
          <a:p>
            <a:pPr marL="0" indent="0">
              <a:buNone/>
            </a:pPr>
            <a:r>
              <a:rPr lang="en-US" sz="13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four building blocks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3383280" y="53035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6" name="Image 5" descr="/agent/turn1/workspace/output/_anthropic_assets/icon-camera-cd4684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5422392"/>
            <a:ext cx="402336" cy="40233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397764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38" name="Shape 30"/>
          <p:cNvSpPr/>
          <p:nvPr/>
        </p:nvSpPr>
        <p:spPr>
          <a:xfrm>
            <a:off x="5440680" y="53035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9" name="Image 6" descr="/agent/turn1/workspace/output/_anthropic_assets/icon-smartwatch-1ee06c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08" y="5422392"/>
            <a:ext cx="402336" cy="40233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603504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sensors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7498080" y="53035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42" name="Image 7" descr="/agent/turn1/workspace/output/_anthropic_assets/icon-bot-0988e0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7808" y="5422392"/>
            <a:ext cx="402336" cy="40233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809244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Robotics</a:t>
            </a:r>
            <a:endParaRPr lang="en-US" sz="1300" dirty="0"/>
          </a:p>
        </p:txBody>
      </p:sp>
      <p:sp>
        <p:nvSpPr>
          <p:cNvPr id="44" name="Shape 34"/>
          <p:cNvSpPr/>
          <p:nvPr/>
        </p:nvSpPr>
        <p:spPr>
          <a:xfrm>
            <a:off x="9555480" y="5303520"/>
            <a:ext cx="192024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45" name="Image 8" descr="/agent/turn1/workspace/output/_anthropic_assets/icon-brain-circuit-a8b1f49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65208" y="5422392"/>
            <a:ext cx="402336" cy="402336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10149840" y="5303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training logic</a:t>
            </a:r>
            <a:endParaRPr lang="en-US" sz="1300" dirty="0"/>
          </a:p>
        </p:txBody>
      </p:sp>
      <p:sp>
        <p:nvSpPr>
          <p:cNvPr id="47" name="Text 6"/>
          <p:cNvSpPr/>
          <p:nvPr/>
        </p:nvSpPr>
        <p:spPr>
          <a:xfrm>
            <a:off x="868680" y="3749039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0">
                <a:solidFill>
                  <a:srgbClr val="CDE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with mobility impairments can respond differently to exercise. The assistant should adapt to each user and to the needs of their trainer or therapist.</a:t>
            </a:r>
            <a:endParaRPr lang="en-US" sz="2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GLOBAL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Training Companion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(2026)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6309360" cy="3547872"/>
          </a:xfrm>
          <a:prstGeom prst="roundRect">
            <a:avLst>
              <a:gd name="adj" fmla="val 3608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pic>
        <p:nvPicPr>
          <p:cNvPr id="7" name="Image 0" descr="/tmp/htmlgen-assets/7c909eec-d0c6-4ecb-a625-9b669cec0f40/81022b212ded42ed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6309360" cy="3547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6309360" cy="3547872"/>
          </a:xfrm>
          <a:prstGeom prst="roundRect">
            <a:avLst>
              <a:gd name="adj" fmla="val 3608"/>
            </a:avLst>
          </a:prstGeom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Shape 6"/>
          <p:cNvSpPr/>
          <p:nvPr/>
        </p:nvSpPr>
        <p:spPr>
          <a:xfrm>
            <a:off x="548640" y="5257800"/>
            <a:ext cx="6309360" cy="1005840"/>
          </a:xfrm>
          <a:prstGeom prst="roundRect">
            <a:avLst>
              <a:gd name="adj" fmla="val 1272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10" name="Text 7"/>
          <p:cNvSpPr/>
          <p:nvPr/>
        </p:nvSpPr>
        <p:spPr>
          <a:xfrm>
            <a:off x="822960" y="5257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monitoring asks not only how high the heart rate is, but whether the response fits the individual and the exercise.</a:t>
            </a:r>
            <a:endParaRPr lang="en-US" sz="1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spcBef>
                <a:spcPts val="400"/>
              </a:spcBef>
              <a:buNone/>
            </a:pPr>
            <a:r>
              <a:rPr lang="en-US" sz="1150" b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key training information will be accessible to the user through a simple interface.</a:t>
            </a:r>
            <a:endParaRPr lang="en-US" sz="1500"/>
          </a:p>
        </p:txBody>
      </p:sp>
      <p:sp>
        <p:nvSpPr>
          <p:cNvPr id="11" name="Shape 8"/>
          <p:cNvSpPr/>
          <p:nvPr/>
        </p:nvSpPr>
        <p:spPr>
          <a:xfrm>
            <a:off x="7132320" y="1508760"/>
            <a:ext cx="4507992" cy="9144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2" name="Shape 9"/>
          <p:cNvSpPr/>
          <p:nvPr/>
        </p:nvSpPr>
        <p:spPr>
          <a:xfrm>
            <a:off x="7296912" y="1691639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3" name="Image 1" descr="/agent/turn1/workspace/output/_anthropic_assets/icon-clipboard-task-f666b44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586" y="1819655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001000" y="15819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Personalized exercise plans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001000" y="1892807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 to mobility, abilities and goals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7132320" y="2542032"/>
            <a:ext cx="4507992" cy="9144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9" name="Shape 15"/>
          <p:cNvSpPr/>
          <p:nvPr/>
        </p:nvSpPr>
        <p:spPr>
          <a:xfrm>
            <a:off x="7296912" y="2816351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0" name="Image 2" descr="/agent/turn1/workspace/output/_anthropic_assets/icon-video-9611a1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8586" y="2944368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01000" y="261518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Real-time exercise monitoring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001000" y="2926079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Repetitions, pace and duration</a:t>
            </a:r>
          </a:p>
        </p:txBody>
      </p:sp>
      <p:sp>
        <p:nvSpPr>
          <p:cNvPr id="25" name="Shape 20"/>
          <p:cNvSpPr/>
          <p:nvPr/>
        </p:nvSpPr>
        <p:spPr>
          <a:xfrm>
            <a:off x="7132320" y="3575304"/>
            <a:ext cx="4507992" cy="14630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6" name="Shape 21"/>
          <p:cNvSpPr/>
          <p:nvPr/>
        </p:nvSpPr>
        <p:spPr>
          <a:xfrm>
            <a:off x="7296912" y="3941064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7" name="Image 3" descr="/agent/turn1/workspace/output/_anthropic_assets/icon-heart-pulse-debaf9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8586" y="4069080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001000" y="364845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Physiological monitoring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8001000" y="395935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 read against the user’s own reference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unexpected responses, not only high values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read with exercise and reported effort</a:t>
            </a:r>
          </a:p>
        </p:txBody>
      </p:sp>
      <p:sp>
        <p:nvSpPr>
          <p:cNvPr id="32" name="Shape 26"/>
          <p:cNvSpPr/>
          <p:nvPr/>
        </p:nvSpPr>
        <p:spPr>
          <a:xfrm>
            <a:off x="7132320" y="5157216"/>
            <a:ext cx="4507992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33" name="Shape 27"/>
          <p:cNvSpPr/>
          <p:nvPr/>
        </p:nvSpPr>
        <p:spPr>
          <a:xfrm>
            <a:off x="7296912" y="5431536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4" name="Image 4" descr="/agent/turn1/workspace/output/_anthropic_assets/icon-chat-4dd41b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8586" y="5559551"/>
            <a:ext cx="285293" cy="28529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001000" y="523036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Feedback, Visual Statistics and Training History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8001000" y="5541264"/>
            <a:ext cx="3566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instructions and encouragement</a:t>
            </a:r>
            <a:endParaRPr lang="en-US" sz="11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training statistics through a user interface</a:t>
            </a:r>
            <a:endParaRPr lang="en-US" sz="115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1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and progress overview</a:t>
            </a:r>
            <a:endParaRPr lang="en-US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USER INTERACTION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Exercise to Feedback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(2026)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8" name="Image 0" descr="/agent/turn1/workspace/output/_anthropic_assets/icon-play-e9bc24d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83" y="1691640"/>
            <a:ext cx="294803" cy="294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3152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starts a personalized training session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29000" y="14173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2" name="Shape 9"/>
          <p:cNvSpPr/>
          <p:nvPr/>
        </p:nvSpPr>
        <p:spPr>
          <a:xfrm>
            <a:off x="3611880" y="1554480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3" name="Image 1" descr="/agent/turn1/workspace/output/_anthropic_assets/icon-bot-0988e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7943" y="1691640"/>
            <a:ext cx="294803" cy="29480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7492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5" name="Text 11"/>
          <p:cNvSpPr/>
          <p:nvPr/>
        </p:nvSpPr>
        <p:spPr>
          <a:xfrm>
            <a:off x="361188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direction is adjusted </a:t>
            </a: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</a:t>
            </a: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</a:t>
            </a: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09360" y="14173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17" name="Shape 13"/>
          <p:cNvSpPr/>
          <p:nvPr/>
        </p:nvSpPr>
        <p:spPr>
          <a:xfrm>
            <a:off x="6492240" y="1554480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8" name="Image 2" descr="/agent/turn1/workspace/output/_anthropic_assets/icon-camera-cd46845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8303" y="1691640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95528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20" name="Text 15"/>
          <p:cNvSpPr/>
          <p:nvPr/>
        </p:nvSpPr>
        <p:spPr>
          <a:xfrm>
            <a:off x="649224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captures the exercise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9189720" y="14173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2" name="Shape 17"/>
          <p:cNvSpPr/>
          <p:nvPr/>
        </p:nvSpPr>
        <p:spPr>
          <a:xfrm>
            <a:off x="9372600" y="1554480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3" name="Image 3" descr="/agent/turn1/workspace/output/_anthropic_assets/icon-brain-circuit-a8b1f49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8663" y="1691640"/>
            <a:ext cx="294803" cy="294803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835640" y="1508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5" name="Text 19"/>
          <p:cNvSpPr/>
          <p:nvPr/>
        </p:nvSpPr>
        <p:spPr>
          <a:xfrm>
            <a:off x="9372600" y="21671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processes the movements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189720" y="32461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7" name="Shape 21"/>
          <p:cNvSpPr/>
          <p:nvPr/>
        </p:nvSpPr>
        <p:spPr>
          <a:xfrm>
            <a:off x="9372600" y="3383279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8" name="Image 4" descr="/agent/turn1/workspace/output/_anthropic_assets/icon-smartwatch-1ee06c4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8663" y="3520439"/>
            <a:ext cx="294803" cy="29480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83564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0" name="Text 23"/>
          <p:cNvSpPr/>
          <p:nvPr/>
        </p:nvSpPr>
        <p:spPr>
          <a:xfrm>
            <a:off x="9372600" y="3995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</a:t>
            </a: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heart-rate data.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309360" y="32461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32" name="Shape 25"/>
          <p:cNvSpPr/>
          <p:nvPr/>
        </p:nvSpPr>
        <p:spPr>
          <a:xfrm>
            <a:off x="6492240" y="3383279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3" name="Image 5" descr="/agent/turn1/workspace/output/_anthropic_assets/icon-settings-ccb6cd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8303" y="3520439"/>
            <a:ext cx="294803" cy="294803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9552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35" name="Text 27"/>
          <p:cNvSpPr/>
          <p:nvPr/>
        </p:nvSpPr>
        <p:spPr>
          <a:xfrm>
            <a:off x="6492240" y="3995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logic combines data and reported effort</a:t>
            </a:r>
            <a:endParaRPr lang="en-US" sz="1300" dirty="0"/>
          </a:p>
        </p:txBody>
      </p:sp>
      <p:sp>
        <p:nvSpPr>
          <p:cNvPr id="36" name="Shape 28"/>
          <p:cNvSpPr/>
          <p:nvPr/>
        </p:nvSpPr>
        <p:spPr>
          <a:xfrm>
            <a:off x="3429000" y="32461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37" name="Shape 29"/>
          <p:cNvSpPr/>
          <p:nvPr/>
        </p:nvSpPr>
        <p:spPr>
          <a:xfrm>
            <a:off x="3611880" y="3383279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8" name="Image 6" descr="/agent/turn1/workspace/output/_anthropic_assets/icon-speaker-18b65b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47943" y="3520439"/>
            <a:ext cx="294803" cy="294803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07492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200" dirty="0"/>
          </a:p>
        </p:txBody>
      </p:sp>
      <p:sp>
        <p:nvSpPr>
          <p:cNvPr id="40" name="Text 31"/>
          <p:cNvSpPr/>
          <p:nvPr/>
        </p:nvSpPr>
        <p:spPr>
          <a:xfrm>
            <a:off x="3611880" y="3995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gives immediate, understandable feedback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548640" y="3246120"/>
            <a:ext cx="2468880" cy="160020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42" name="Shape 33"/>
          <p:cNvSpPr/>
          <p:nvPr/>
        </p:nvSpPr>
        <p:spPr>
          <a:xfrm>
            <a:off x="731520" y="3383279"/>
            <a:ext cx="566928" cy="566928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43" name="Image 7" descr="/agent/turn1/workspace/output/_anthropic_assets/icon-database-a1f6211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583" y="3520439"/>
            <a:ext cx="294803" cy="294803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19456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B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45" name="Text 35"/>
          <p:cNvSpPr/>
          <p:nvPr/>
        </p:nvSpPr>
        <p:spPr>
          <a:xfrm>
            <a:off x="731520" y="399592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results </a:t>
            </a: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</a:t>
            </a:r>
            <a:r>
              <a:rPr lang="en-US" sz="13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displayed through the user interface.</a:t>
            </a:r>
            <a:endParaRPr lang="en-US" sz="1300" dirty="0"/>
          </a:p>
        </p:txBody>
      </p:sp>
      <p:pic>
        <p:nvPicPr>
          <p:cNvPr id="46" name="Image 8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86100" y="2080260"/>
            <a:ext cx="274320" cy="274320"/>
          </a:xfrm>
          <a:prstGeom prst="rect">
            <a:avLst/>
          </a:prstGeom>
        </p:spPr>
      </p:pic>
      <p:pic>
        <p:nvPicPr>
          <p:cNvPr id="47" name="Image 9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66460" y="2080260"/>
            <a:ext cx="274320" cy="274320"/>
          </a:xfrm>
          <a:prstGeom prst="rect">
            <a:avLst/>
          </a:prstGeom>
        </p:spPr>
      </p:pic>
      <p:pic>
        <p:nvPicPr>
          <p:cNvPr id="48" name="Image 10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6820" y="2080260"/>
            <a:ext cx="274320" cy="274320"/>
          </a:xfrm>
          <a:prstGeom prst="rect">
            <a:avLst/>
          </a:prstGeom>
        </p:spPr>
      </p:pic>
      <p:pic>
        <p:nvPicPr>
          <p:cNvPr id="49" name="Image 11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8846820" y="3909060"/>
            <a:ext cx="274320" cy="274320"/>
          </a:xfrm>
          <a:prstGeom prst="rect">
            <a:avLst/>
          </a:prstGeom>
        </p:spPr>
      </p:pic>
      <p:pic>
        <p:nvPicPr>
          <p:cNvPr id="50" name="Image 12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5966460" y="3909060"/>
            <a:ext cx="274320" cy="274320"/>
          </a:xfrm>
          <a:prstGeom prst="rect">
            <a:avLst/>
          </a:prstGeom>
        </p:spPr>
      </p:pic>
      <p:pic>
        <p:nvPicPr>
          <p:cNvPr id="51" name="Image 13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0800000">
            <a:off x="3086100" y="3909060"/>
            <a:ext cx="274320" cy="274320"/>
          </a:xfrm>
          <a:prstGeom prst="rect">
            <a:avLst/>
          </a:prstGeom>
        </p:spPr>
      </p:pic>
      <p:pic>
        <p:nvPicPr>
          <p:cNvPr id="52" name="Image 14" descr="/agent/turn1/workspace/output/_anthropic_assets/icon-arrow-right-87520143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287000" y="2994660"/>
            <a:ext cx="274320" cy="274320"/>
          </a:xfrm>
          <a:prstGeom prst="rect">
            <a:avLst/>
          </a:prstGeom>
        </p:spPr>
      </p:pic>
      <p:sp>
        <p:nvSpPr>
          <p:cNvPr id="53" name="Text 36"/>
          <p:cNvSpPr/>
          <p:nvPr/>
        </p:nvSpPr>
        <p:spPr>
          <a:xfrm>
            <a:off x="54864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FEEDBACK EXAMPLES</a:t>
            </a:r>
            <a:endParaRPr lang="en-US" sz="1200" dirty="0"/>
          </a:p>
        </p:txBody>
      </p:sp>
      <p:sp>
        <p:nvSpPr>
          <p:cNvPr id="55" name="Text 38"/>
          <p:cNvSpPr/>
          <p:nvPr/>
        </p:nvSpPr>
        <p:spPr>
          <a:xfrm>
            <a:off x="5943600" y="5056632"/>
            <a:ext cx="5715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EXAMPLES · NOT VALIDATED MEDICAL INSTRUCTIONS</a:t>
            </a:r>
            <a:endParaRPr lang="en-US" sz="900"/>
          </a:p>
        </p:txBody>
      </p:sp>
      <p:sp>
        <p:nvSpPr>
          <p:cNvPr id="56" name="Shape 39"/>
          <p:cNvSpPr/>
          <p:nvPr/>
        </p:nvSpPr>
        <p:spPr>
          <a:xfrm>
            <a:off x="548640" y="5349240"/>
            <a:ext cx="3593592" cy="960120"/>
          </a:xfrm>
          <a:prstGeom prst="roundRect">
            <a:avLst>
              <a:gd name="adj" fmla="val 15238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57" name="Image 15" descr="/agent/turn1/workspace/output/_anthropic_assets/icon-chat-4dd41b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6656" y="5394960"/>
            <a:ext cx="310896" cy="310896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1051560" y="539496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“Great! You completed five repetitions.”</a:t>
            </a:r>
            <a:endParaRPr lang="en-US" sz="1250" dirty="0"/>
          </a:p>
        </p:txBody>
      </p:sp>
      <p:sp>
        <p:nvSpPr>
          <p:cNvPr id="59" name="Shape 41"/>
          <p:cNvSpPr/>
          <p:nvPr/>
        </p:nvSpPr>
        <p:spPr>
          <a:xfrm>
            <a:off x="4306824" y="5349240"/>
            <a:ext cx="3593592" cy="960120"/>
          </a:xfrm>
          <a:prstGeom prst="roundRect">
            <a:avLst>
              <a:gd name="adj" fmla="val 15238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60" name="Image 16" descr="/agent/turn1/workspace/output/_anthropic_assets/icon-chat-4dd41b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4840" y="5394960"/>
            <a:ext cx="310896" cy="310896"/>
          </a:xfrm>
          <a:prstGeom prst="rect">
            <a:avLst/>
          </a:prstGeom>
        </p:spPr>
      </p:pic>
      <p:sp>
        <p:nvSpPr>
          <p:cNvPr id="61" name="Text 42"/>
          <p:cNvSpPr/>
          <p:nvPr/>
        </p:nvSpPr>
        <p:spPr>
          <a:xfrm>
            <a:off x="4809744" y="539496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movement pace has changed. Would you like to slow down?”</a:t>
            </a:r>
            <a:endParaRPr lang="en-US" sz="1250" dirty="0"/>
          </a:p>
        </p:txBody>
      </p:sp>
      <p:sp>
        <p:nvSpPr>
          <p:cNvPr id="62" name="Shape 43"/>
          <p:cNvSpPr/>
          <p:nvPr/>
        </p:nvSpPr>
        <p:spPr>
          <a:xfrm>
            <a:off x="8065008" y="5349240"/>
            <a:ext cx="3593592" cy="960120"/>
          </a:xfrm>
          <a:prstGeom prst="roundRect">
            <a:avLst>
              <a:gd name="adj" fmla="val 15238"/>
            </a:avLst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63" name="Image 17" descr="/agent/turn1/workspace/output/_anthropic_assets/icon-chat-4dd41bd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3024" y="5394960"/>
            <a:ext cx="310896" cy="310896"/>
          </a:xfrm>
          <a:prstGeom prst="rect">
            <a:avLst/>
          </a:prstGeom>
        </p:spPr>
      </p:pic>
      <p:sp>
        <p:nvSpPr>
          <p:cNvPr id="64" name="Text 44"/>
          <p:cNvSpPr/>
          <p:nvPr/>
        </p:nvSpPr>
        <p:spPr>
          <a:xfrm>
            <a:off x="8567928" y="5394960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“Your heart-rate response differs from your configured reference. Let’s check how you feel.”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PROTOTYPE 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Vision to Proof of Concept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(2026)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3931920" cy="4325112"/>
          </a:xfrm>
          <a:prstGeom prst="roundRect">
            <a:avLst>
              <a:gd name="adj" fmla="val 4341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7" name="Image 0" descr="/tmp/htmlgen-assets/7c909eec-d0c6-4ecb-a625-9b669cec0f40/f5b4fe82e42f4f8c.jpg"/>
          <p:cNvPicPr>
            <a:picLocks noChangeAspect="1"/>
          </p:cNvPicPr>
          <p:nvPr/>
        </p:nvPicPr>
        <p:blipFill>
          <a:blip r:embed="rId3"/>
          <a:srcRect l="15909" r="15909"/>
          <a:stretch/>
        </p:blipFill>
        <p:spPr>
          <a:xfrm>
            <a:off x="548640" y="1508760"/>
            <a:ext cx="3931920" cy="4325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3931920" cy="4325112"/>
          </a:xfrm>
          <a:prstGeom prst="roundRect">
            <a:avLst>
              <a:gd name="adj" fmla="val 4341"/>
            </a:avLst>
          </a:prstGeom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548640" y="587959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Landmarker: body landmarks (illustrative)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754880" y="1508760"/>
            <a:ext cx="6903720" cy="841248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1" name="Shape 18"/>
          <p:cNvSpPr/>
          <p:nvPr/>
        </p:nvSpPr>
        <p:spPr>
          <a:xfrm>
            <a:off x="4937760" y="1655064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2" name="Image 1" descr="/agent/turn1/workspace/output/_anthropic_assets/icon-bot-0988e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9434" y="1783080"/>
            <a:ext cx="285293" cy="28529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715000" y="1600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5715000" y="1892807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 Burger · USB camera · Raspberry Pi / robot computer · Servo motor (exclusively adjusts the camera direction to locate the user) · Audio output · Wearable heart-rate sensor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4754880" y="2459736"/>
            <a:ext cx="6903720" cy="841248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28" name="Shape 24"/>
          <p:cNvSpPr/>
          <p:nvPr/>
        </p:nvSpPr>
        <p:spPr>
          <a:xfrm>
            <a:off x="4937760" y="2606040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9" name="Image 2" descr="/agent/turn1/workspace/output/_anthropic_assets/icon-video-9611a1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9434" y="2734056"/>
            <a:ext cx="285293" cy="285293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71500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estimation and exercise counter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5715000" y="2843784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 extracts body landmarks. Custom exercise-counter logic interprets these landmarks to calculate repetitions, repetition duration and pace.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4754880" y="3410712"/>
            <a:ext cx="6903720" cy="841248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35" name="Shape 30"/>
          <p:cNvSpPr/>
          <p:nvPr/>
        </p:nvSpPr>
        <p:spPr>
          <a:xfrm>
            <a:off x="4937760" y="3557016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36" name="Image 3" descr="/agent/turn1/workspace/output/_anthropic_assets/icon-heart-pulse-debaf93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9434" y="3685032"/>
            <a:ext cx="285293" cy="285293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715000" y="3502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monitoring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5715000" y="3794760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heart-rate data. Research direction: interpret it relative to each user’s own reference, together with reported effort.</a:t>
            </a:r>
            <a:endParaRPr lang="en-US" sz="1200" dirty="0"/>
          </a:p>
        </p:txBody>
      </p:sp>
      <p:sp>
        <p:nvSpPr>
          <p:cNvPr id="41" name="Shape 35"/>
          <p:cNvSpPr/>
          <p:nvPr/>
        </p:nvSpPr>
        <p:spPr>
          <a:xfrm>
            <a:off x="4754880" y="4361688"/>
            <a:ext cx="6903720" cy="841248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42" name="Shape 36"/>
          <p:cNvSpPr/>
          <p:nvPr/>
        </p:nvSpPr>
        <p:spPr>
          <a:xfrm>
            <a:off x="4937760" y="4507992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43" name="Image 4" descr="/agent/turn1/workspace/output/_anthropic_assets/icon-speaker-18b65b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9434" y="4636007"/>
            <a:ext cx="285293" cy="285293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715000" y="4453127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logic and feedback</a:t>
            </a:r>
            <a:endParaRPr lang="en-US" sz="1600" dirty="0"/>
          </a:p>
        </p:txBody>
      </p:sp>
      <p:sp>
        <p:nvSpPr>
          <p:cNvPr id="47" name="Text 40"/>
          <p:cNvSpPr/>
          <p:nvPr/>
        </p:nvSpPr>
        <p:spPr>
          <a:xfrm>
            <a:off x="5715000" y="4745736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training logic combines exercise measurements with user-specific parameters; voice feedback is delivered through the robot.</a:t>
            </a:r>
            <a:endParaRPr lang="en-US" sz="1200" dirty="0"/>
          </a:p>
        </p:txBody>
      </p:sp>
      <p:sp>
        <p:nvSpPr>
          <p:cNvPr id="48" name="Shape 35"/>
          <p:cNvSpPr/>
          <p:nvPr/>
        </p:nvSpPr>
        <p:spPr>
          <a:xfrm>
            <a:off x="4754880" y="5312664"/>
            <a:ext cx="6903720" cy="841248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  <a:effectLst>
            <a:outerShdw blurRad="101600" dist="25400" dir="5400000" algn="bl" rotWithShape="0">
              <a:srgbClr val="0B1F3A">
                <a:alpha val="8000"/>
              </a:srgbClr>
            </a:outerShdw>
          </a:effectLst>
        </p:spPr>
        <p:txBody>
          <a:bodyPr/>
          <a:lstStyle/>
          <a:p>
            <a:endParaRPr lang="en-001"/>
          </a:p>
        </p:txBody>
      </p:sp>
      <p:sp>
        <p:nvSpPr>
          <p:cNvPr id="49" name="Shape 36"/>
          <p:cNvSpPr/>
          <p:nvPr/>
        </p:nvSpPr>
        <p:spPr>
          <a:xfrm>
            <a:off x="4937760" y="5458968"/>
            <a:ext cx="548640" cy="548640"/>
          </a:xfrm>
          <a:prstGeom prst="ellipse">
            <a:avLst/>
          </a:prstGeom>
          <a:solidFill>
            <a:srgbClr val="E3F3F5"/>
          </a:solidFill>
          <a:ln w="12700">
            <a:solidFill>
              <a:srgbClr val="E3F3F5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53" name="Picture 52" descr="Dashboar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69434" y="5586984"/>
            <a:ext cx="285293" cy="285293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5715000" y="54041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Dashboard / User Interface</a:t>
            </a:r>
            <a:endParaRPr lang="en-US" sz="1600" dirty="0"/>
          </a:p>
        </p:txBody>
      </p:sp>
      <p:sp>
        <p:nvSpPr>
          <p:cNvPr id="52" name="Text 40"/>
          <p:cNvSpPr/>
          <p:nvPr/>
        </p:nvSpPr>
        <p:spPr>
          <a:xfrm>
            <a:off x="5715000" y="5696712"/>
            <a:ext cx="5760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statistics are visualized through a simple dashboard, helping both the user and the development team understand exercise performance.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HARDWARE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 Platform and Sensors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(2026)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4023360" cy="3017520"/>
          </a:xfrm>
          <a:prstGeom prst="roundRect">
            <a:avLst>
              <a:gd name="adj" fmla="val 4242"/>
            </a:avLst>
          </a:prstGeom>
          <a:solidFill>
            <a:srgbClr val="FFFFFF"/>
          </a:solidFill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7" name="Image 0" descr="/tmp/htmlgen-assets/7c909eec-d0c6-4ecb-a625-9b669cec0f40/4dfca5328eb04d59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508760"/>
            <a:ext cx="4023360" cy="30175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508760"/>
            <a:ext cx="4023360" cy="3017520"/>
          </a:xfrm>
          <a:prstGeom prst="roundRect">
            <a:avLst>
              <a:gd name="adj" fmla="val 4242"/>
            </a:avLst>
          </a:prstGeom>
          <a:ln w="12700">
            <a:solidFill>
              <a:srgbClr val="CBD8E3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 Burger with USB camera (illustrative)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46320" y="1508760"/>
            <a:ext cx="6812280" cy="3566160"/>
          </a:xfrm>
          <a:prstGeom prst="roundRect">
            <a:avLst>
              <a:gd name="adj" fmla="val 5128"/>
            </a:avLst>
          </a:prstGeom>
          <a:solidFill>
            <a:srgbClr val="EEF8F9"/>
          </a:solidFill>
          <a:ln w="19050">
            <a:solidFill>
              <a:srgbClr val="0E9AA7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sp>
        <p:nvSpPr>
          <p:cNvPr id="17" name="Text 14"/>
          <p:cNvSpPr/>
          <p:nvPr/>
        </p:nvSpPr>
        <p:spPr>
          <a:xfrm>
            <a:off x="512064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TURTLEBOT3 BURGER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120640" y="2286000"/>
            <a:ext cx="173736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0E9AA7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19" name="Image 1" descr="/agent/turn1/workspace/output/_anthropic_assets/icon-camera-cd46845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39572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120640" y="290779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camera</a:t>
            </a:r>
            <a:endParaRPr lang="en-US" sz="1400" dirty="0"/>
          </a:p>
          <a:p>
            <a:pPr marL="0" indent="0" algn="ctr">
              <a:buNone/>
            </a:pPr>
            <a:r>
              <a:rPr lang="en-US" sz="11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to </a:t>
            </a: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10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TurtleBot</a:t>
            </a:r>
            <a:endParaRPr lang="en-US" sz="1400" dirty="0"/>
          </a:p>
        </p:txBody>
      </p:sp>
      <p:sp>
        <p:nvSpPr>
          <p:cNvPr id="21" name="Shape 17"/>
          <p:cNvSpPr/>
          <p:nvPr/>
        </p:nvSpPr>
        <p:spPr>
          <a:xfrm>
            <a:off x="7315200" y="2286000"/>
            <a:ext cx="2194560" cy="1463040"/>
          </a:xfrm>
          <a:prstGeom prst="roundRect">
            <a:avLst>
              <a:gd name="adj" fmla="val 875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sp>
        <p:nvSpPr>
          <p:cNvPr id="22" name="Text 18"/>
          <p:cNvSpPr/>
          <p:nvPr/>
        </p:nvSpPr>
        <p:spPr>
          <a:xfrm>
            <a:off x="7406640" y="23774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/ robot computer</a:t>
            </a:r>
            <a:endParaRPr lang="en-US" sz="15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9FD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Jazzy · Python</a:t>
            </a:r>
            <a:endParaRPr lang="en-US" sz="1500" dirty="0"/>
          </a:p>
        </p:txBody>
      </p:sp>
      <p:sp>
        <p:nvSpPr>
          <p:cNvPr id="23" name="Shape 19"/>
          <p:cNvSpPr/>
          <p:nvPr/>
        </p:nvSpPr>
        <p:spPr>
          <a:xfrm>
            <a:off x="9966960" y="228600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en-001"/>
          </a:p>
        </p:txBody>
      </p:sp>
      <p:pic>
        <p:nvPicPr>
          <p:cNvPr id="24" name="Image 2" descr="/agent/turn1/workspace/output/_anthropic_assets/icon-speaker-18b65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9880" y="2395728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966960" y="29077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feedback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858000" y="3017520"/>
            <a:ext cx="45720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27" name="Shape 22"/>
          <p:cNvSpPr/>
          <p:nvPr/>
        </p:nvSpPr>
        <p:spPr>
          <a:xfrm>
            <a:off x="9509760" y="3017520"/>
            <a:ext cx="457200" cy="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  <p:txBody>
          <a:bodyPr/>
          <a:lstStyle/>
          <a:p>
            <a:endParaRPr lang="en-001"/>
          </a:p>
        </p:txBody>
      </p:sp>
      <p:sp>
        <p:nvSpPr>
          <p:cNvPr id="28" name="Shape 23"/>
          <p:cNvSpPr/>
          <p:nvPr/>
        </p:nvSpPr>
        <p:spPr>
          <a:xfrm>
            <a:off x="5120640" y="3977639"/>
            <a:ext cx="2743200" cy="960120"/>
          </a:xfrm>
          <a:prstGeom prst="roundRect">
            <a:avLst>
              <a:gd name="adj" fmla="val 12632"/>
            </a:avLst>
          </a:prstGeom>
          <a:solidFill>
            <a:srgbClr val="F3EEFF"/>
          </a:solidFill>
          <a:ln w="19050">
            <a:solidFill>
              <a:srgbClr val="7C3AED"/>
            </a:solidFill>
          </a:ln>
        </p:spPr>
        <p:txBody>
          <a:bodyPr/>
          <a:lstStyle/>
          <a:p>
            <a:endParaRPr lang="en-001"/>
          </a:p>
        </p:txBody>
      </p:sp>
      <p:sp>
        <p:nvSpPr>
          <p:cNvPr id="29" name="Text 24"/>
          <p:cNvSpPr/>
          <p:nvPr/>
        </p:nvSpPr>
        <p:spPr>
          <a:xfrm>
            <a:off x="5230368" y="3977639"/>
            <a:ext cx="25237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Servo Motor – Camera positioning</a:t>
            </a:r>
            <a:endParaRPr lang="en-US" sz="1150"/>
          </a:p>
          <a:p>
            <a:pPr marL="0" indent="0">
              <a:buNone/>
            </a:pPr>
            <a:r>
              <a:rPr lang="en-US" sz="1100" b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purpose: adjusting the camera direction to locate the user.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7132320" y="5440680"/>
            <a:ext cx="2560320" cy="822960"/>
          </a:xfrm>
          <a:prstGeom prst="roundRect">
            <a:avLst>
              <a:gd name="adj" fmla="val 15556"/>
            </a:avLst>
          </a:prstGeom>
          <a:solidFill>
            <a:srgbClr val="E4ECFD"/>
          </a:solidFill>
          <a:ln w="19050">
            <a:solidFill>
              <a:srgbClr val="2563EB"/>
            </a:solidFill>
            <a:prstDash val="dash"/>
          </a:ln>
        </p:spPr>
        <p:txBody>
          <a:bodyPr/>
          <a:lstStyle/>
          <a:p>
            <a:endParaRPr lang="en-001"/>
          </a:p>
        </p:txBody>
      </p:sp>
      <p:pic>
        <p:nvPicPr>
          <p:cNvPr id="33" name="Image 3" descr="/agent/turn1/workspace/output/_anthropic_assets/icon-smartwatch-1ee06c4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5623560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818120" y="5468112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heart-rate sensor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worn by the user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 flipV="1">
            <a:off x="8412480" y="3749040"/>
            <a:ext cx="0" cy="1691640"/>
          </a:xfrm>
          <a:prstGeom prst="line">
            <a:avLst/>
          </a:prstGeom>
          <a:noFill/>
          <a:ln w="25400">
            <a:solidFill>
              <a:srgbClr val="0E9AA7"/>
            </a:solidFill>
            <a:prstDash val="solid"/>
            <a:tailEnd type="triangle"/>
          </a:ln>
        </p:spPr>
        <p:txBody>
          <a:bodyPr/>
          <a:lstStyle/>
          <a:p>
            <a:endParaRPr lang="en-001"/>
          </a:p>
        </p:txBody>
      </p:sp>
      <p:cxnSp>
        <p:nvCxnSpPr>
          <p:cNvPr id="36" name="Connector 35"/>
          <p:cNvCxnSpPr/>
          <p:nvPr/>
        </p:nvCxnSpPr>
        <p:spPr>
          <a:xfrm flipV="1">
            <a:off x="5989320" y="3685032"/>
            <a:ext cx="0" cy="292607"/>
          </a:xfrm>
          <a:prstGeom prst="line">
            <a:avLst/>
          </a:prstGeom>
          <a:ln w="25400">
            <a:solidFill>
              <a:srgbClr val="0E9AA7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SOFTWARE ARCHITECTURE AND LOGIC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and Fabrication in the LearningLab (2026)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064240" y="6446520"/>
            <a:ext cx="576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Rectangle 5"/>
          <p:cNvSpPr/>
          <p:nvPr/>
        </p:nvSpPr>
        <p:spPr>
          <a:xfrm>
            <a:off x="548640" y="2880360"/>
            <a:ext cx="2103120" cy="1371600"/>
          </a:xfrm>
          <a:prstGeom prst="roundRect">
            <a:avLst>
              <a:gd name="adj" fmla="val 12000"/>
            </a:avLst>
          </a:prstGeom>
          <a:solidFill>
            <a:srgbClr val="E3F3F5"/>
          </a:solidFill>
          <a:ln w="22225">
            <a:solidFill>
              <a:srgbClr val="0E9AA7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500" b="1">
                <a:solidFill>
                  <a:srgbClr val="0B1F3A"/>
                </a:solidFill>
                <a:latin typeface="Calibri"/>
              </a:rPr>
              <a:t>TurtleBot3 Camera</a:t>
            </a:r>
          </a:p>
          <a:p>
            <a:pPr algn="l"/>
            <a:r>
              <a:rPr sz="1150">
                <a:solidFill>
                  <a:srgbClr val="5B6B7F"/>
                </a:solidFill>
                <a:latin typeface="Calibri"/>
              </a:rPr>
              <a:t>Live video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88036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E4ECFD"/>
          </a:solidFill>
          <a:ln w="22225">
            <a:solidFill>
              <a:srgbClr val="2563EB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500" b="1" dirty="0" err="1">
                <a:solidFill>
                  <a:srgbClr val="0B1F3A"/>
                </a:solidFill>
                <a:latin typeface="Calibri"/>
              </a:rPr>
              <a:t>MediaPipe</a:t>
            </a:r>
            <a:r>
              <a:rPr sz="1500" b="1" dirty="0">
                <a:solidFill>
                  <a:srgbClr val="0B1F3A"/>
                </a:solidFill>
                <a:latin typeface="Calibri"/>
              </a:rPr>
              <a:t> / Exercise Detection</a:t>
            </a:r>
          </a:p>
          <a:p>
            <a:pPr algn="l"/>
            <a:r>
              <a:rPr sz="1150" dirty="0">
                <a:solidFill>
                  <a:srgbClr val="5B6B7F"/>
                </a:solidFill>
                <a:latin typeface="Calibri"/>
              </a:rPr>
              <a:t>Pose and repetition counting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595360" y="1463040"/>
            <a:ext cx="3017520" cy="2788920"/>
          </a:xfrm>
          <a:prstGeom prst="roundRect">
            <a:avLst>
              <a:gd name="adj" fmla="val 12000"/>
            </a:avLst>
          </a:prstGeom>
          <a:solidFill>
            <a:srgbClr val="0B1F3A"/>
          </a:solidFill>
          <a:ln w="22225">
            <a:solidFill>
              <a:srgbClr val="0B1F3A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ROS 2 Training Logic</a:t>
            </a:r>
          </a:p>
          <a:p>
            <a:pPr algn="l"/>
            <a:r>
              <a:rPr sz="1150">
                <a:solidFill>
                  <a:srgbClr val="CADCFC"/>
                </a:solidFill>
                <a:latin typeface="Calibri"/>
              </a:rPr>
              <a:t>Decides the feedback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1440180"/>
            <a:ext cx="1737360" cy="914400"/>
          </a:xfrm>
          <a:prstGeom prst="roundRect">
            <a:avLst>
              <a:gd name="adj" fmla="val 12000"/>
            </a:avLst>
          </a:prstGeom>
          <a:solidFill>
            <a:srgbClr val="E3F3F5"/>
          </a:solidFill>
          <a:ln w="22225">
            <a:solidFill>
              <a:srgbClr val="0E9AA7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ctr"/>
          <a:lstStyle/>
          <a:p>
            <a:pPr algn="l"/>
            <a:r>
              <a:rPr sz="1500" b="1" dirty="0">
                <a:solidFill>
                  <a:srgbClr val="0B1F3A"/>
                </a:solidFill>
                <a:latin typeface="Calibri"/>
              </a:rPr>
              <a:t>Heart-rate </a:t>
            </a:r>
            <a:r>
              <a:rPr lang="en-US" sz="1500" b="1" dirty="0">
                <a:solidFill>
                  <a:srgbClr val="0B1F3A"/>
                </a:solidFill>
                <a:latin typeface="Calibri"/>
              </a:rPr>
              <a:t>Band</a:t>
            </a:r>
            <a:endParaRPr sz="1500" b="1" dirty="0">
              <a:solidFill>
                <a:srgbClr val="0B1F3A"/>
              </a:solidFill>
              <a:latin typeface="Calibri"/>
            </a:endParaRPr>
          </a:p>
          <a:p>
            <a:pPr algn="l"/>
            <a:r>
              <a:rPr lang="en-US" sz="1150" dirty="0">
                <a:solidFill>
                  <a:srgbClr val="5B6B7F"/>
                </a:solidFill>
                <a:latin typeface="Calibri"/>
              </a:rPr>
              <a:t>Worn by the user</a:t>
            </a:r>
            <a:endParaRPr sz="1150" dirty="0">
              <a:solidFill>
                <a:srgbClr val="5B6B7F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00800" y="5303520"/>
            <a:ext cx="2560320" cy="960120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22225">
            <a:solidFill>
              <a:srgbClr val="7C3AED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rtlCol="0" anchor="ctr"/>
          <a:lstStyle/>
          <a:p>
            <a:pPr algn="l"/>
            <a:r>
              <a:rPr sz="1500" b="1" dirty="0">
                <a:solidFill>
                  <a:srgbClr val="0B1F3A"/>
                </a:solidFill>
                <a:latin typeface="Calibri"/>
              </a:rPr>
              <a:t>Speaker / Audio Feedback</a:t>
            </a:r>
          </a:p>
          <a:p>
            <a:pPr algn="l"/>
            <a:r>
              <a:rPr sz="1150" dirty="0">
                <a:solidFill>
                  <a:srgbClr val="5B6B7F"/>
                </a:solidFill>
                <a:latin typeface="Calibri"/>
              </a:rPr>
              <a:t>Spoken messages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3566160"/>
            <a:ext cx="1554480" cy="0"/>
          </a:xfrm>
          <a:prstGeom prst="line">
            <a:avLst/>
          </a:prstGeom>
          <a:ln w="28575">
            <a:solidFill>
              <a:srgbClr val="0E9A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697480" y="3246120"/>
            <a:ext cx="146304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150" b="1">
                <a:solidFill>
                  <a:srgbClr val="0E9AA7"/>
                </a:solidFill>
                <a:latin typeface="Calibri"/>
              </a:rPr>
              <a:t>/image_raw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92240" y="3566160"/>
            <a:ext cx="2103120" cy="0"/>
          </a:xfrm>
          <a:prstGeom prst="line">
            <a:avLst/>
          </a:prstGeom>
          <a:ln w="28575">
            <a:solidFill>
              <a:srgbClr val="0B1F3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>
            <a:spLocks/>
          </p:cNvSpPr>
          <p:nvPr/>
        </p:nvSpPr>
        <p:spPr>
          <a:xfrm>
            <a:off x="6492240" y="3218688"/>
            <a:ext cx="210312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150" b="1" dirty="0">
                <a:solidFill>
                  <a:srgbClr val="0B1F3A"/>
                </a:solidFill>
                <a:latin typeface="Calibri"/>
              </a:rPr>
              <a:t>/exercise/stats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0" y="4251960"/>
            <a:ext cx="0" cy="1051560"/>
          </a:xfrm>
          <a:prstGeom prst="line">
            <a:avLst/>
          </a:prstGeom>
          <a:ln w="2857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>
            <a:spLocks/>
          </p:cNvSpPr>
          <p:nvPr/>
        </p:nvSpPr>
        <p:spPr>
          <a:xfrm>
            <a:off x="8001000" y="4617720"/>
            <a:ext cx="155448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150" b="1">
                <a:solidFill>
                  <a:srgbClr val="7C3AED"/>
                </a:solidFill>
                <a:latin typeface="Calibri"/>
              </a:rPr>
              <a:t>/training/feedback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424160" y="4251960"/>
            <a:ext cx="0" cy="1051560"/>
          </a:xfrm>
          <a:prstGeom prst="line">
            <a:avLst/>
          </a:prstGeom>
          <a:ln w="28575">
            <a:solidFill>
              <a:srgbClr val="7C3AE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>
            <a:spLocks/>
          </p:cNvSpPr>
          <p:nvPr/>
        </p:nvSpPr>
        <p:spPr>
          <a:xfrm>
            <a:off x="9692640" y="4617720"/>
            <a:ext cx="1463040" cy="274320"/>
          </a:xfrm>
          <a:prstGeom prst="roundRect">
            <a:avLst>
              <a:gd name="adj" fmla="val 30000"/>
            </a:avLst>
          </a:prstGeom>
          <a:solidFill>
            <a:srgbClr val="FFFFFF"/>
          </a:solidFill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150" b="1" dirty="0">
                <a:solidFill>
                  <a:srgbClr val="7C3AED"/>
                </a:solidFill>
                <a:latin typeface="Calibri"/>
              </a:rPr>
              <a:t>/training/status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7698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3F3F5"/>
          </a:solidFill>
          <a:ln w="19050">
            <a:solidFill>
              <a:srgbClr val="0E9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>
            <a:spLocks/>
          </p:cNvSpPr>
          <p:nvPr/>
        </p:nvSpPr>
        <p:spPr>
          <a:xfrm>
            <a:off x="804672" y="5749055"/>
            <a:ext cx="367986" cy="20621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l"/>
            <a:r>
              <a:rPr lang="en-US" sz="1100" b="1">
                <a:solidFill>
                  <a:srgbClr val="5B6B7F"/>
                </a:solidFill>
                <a:latin typeface="Calibri"/>
              </a:rPr>
              <a:t>Input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74519" y="57698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E4ECFD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2130552" y="5749055"/>
            <a:ext cx="629275" cy="20621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l"/>
            <a:r>
              <a:rPr lang="en-US" sz="1100" b="1" dirty="0">
                <a:solidFill>
                  <a:srgbClr val="5B6B7F"/>
                </a:solidFill>
                <a:latin typeface="Calibri"/>
              </a:rPr>
              <a:t>Detection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0" y="57698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0B1F3A"/>
          </a:solidFill>
          <a:ln w="19050">
            <a:solidFill>
              <a:srgbClr val="0B1F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>
            <a:spLocks/>
          </p:cNvSpPr>
          <p:nvPr/>
        </p:nvSpPr>
        <p:spPr>
          <a:xfrm>
            <a:off x="3456432" y="5715000"/>
            <a:ext cx="91440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l"/>
            <a:r>
              <a:rPr lang="en-US" sz="1100" b="1" dirty="0">
                <a:solidFill>
                  <a:srgbClr val="5B6B7F"/>
                </a:solidFill>
                <a:latin typeface="Calibri"/>
              </a:rPr>
              <a:t>Logic</a:t>
            </a:r>
          </a:p>
        </p:txBody>
      </p:sp>
      <p:sp>
        <p:nvSpPr>
          <p:cNvPr id="30" name="Rectangle 29"/>
          <p:cNvSpPr>
            <a:spLocks/>
          </p:cNvSpPr>
          <p:nvPr/>
        </p:nvSpPr>
        <p:spPr>
          <a:xfrm>
            <a:off x="4526280" y="5769864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F3EE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4782312" y="5715000"/>
            <a:ext cx="91440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l"/>
            <a:r>
              <a:rPr lang="en-US" sz="1100" b="1" dirty="0">
                <a:solidFill>
                  <a:srgbClr val="5B6B7F"/>
                </a:solidFill>
                <a:latin typeface="Calibri"/>
              </a:rPr>
              <a:t>Output</a:t>
            </a:r>
          </a:p>
        </p:txBody>
      </p:sp>
      <p:pic>
        <p:nvPicPr>
          <p:cNvPr id="32" name="Picture 31" descr="Speaker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5600700"/>
            <a:ext cx="365760" cy="365760"/>
          </a:xfrm>
          <a:prstGeom prst="rect">
            <a:avLst/>
          </a:prstGeom>
        </p:spPr>
      </p:pic>
      <p:grpSp>
        <p:nvGrpSpPr>
          <p:cNvPr id="48" name="Smartwatch illustration"/>
          <p:cNvGrpSpPr/>
          <p:nvPr/>
        </p:nvGrpSpPr>
        <p:grpSpPr>
          <a:xfrm>
            <a:off x="548640" y="1417320"/>
            <a:ext cx="594359" cy="960120"/>
            <a:chOff x="7635240" y="1371600"/>
            <a:chExt cx="594359" cy="960120"/>
          </a:xfrm>
        </p:grpSpPr>
        <p:sp>
          <p:nvSpPr>
            <p:cNvPr id="49" name="Rounded Rectangle 48"/>
            <p:cNvSpPr/>
            <p:nvPr/>
          </p:nvSpPr>
          <p:spPr>
            <a:xfrm>
              <a:off x="7726679" y="1371600"/>
              <a:ext cx="365760" cy="274320"/>
            </a:xfrm>
            <a:prstGeom prst="roundRect">
              <a:avLst>
                <a:gd name="adj" fmla="val 30000"/>
              </a:avLst>
            </a:prstGeom>
            <a:solidFill>
              <a:srgbClr val="5B6B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ounded Rectangle 49"/>
            <p:cNvSpPr/>
            <p:nvPr/>
          </p:nvSpPr>
          <p:spPr>
            <a:xfrm>
              <a:off x="7726679" y="2057400"/>
              <a:ext cx="365760" cy="274320"/>
            </a:xfrm>
            <a:prstGeom prst="roundRect">
              <a:avLst>
                <a:gd name="adj" fmla="val 30000"/>
              </a:avLst>
            </a:prstGeom>
            <a:solidFill>
              <a:srgbClr val="5B6B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7635240" y="1572768"/>
              <a:ext cx="548640" cy="557784"/>
            </a:xfrm>
            <a:prstGeom prst="roundRect">
              <a:avLst>
                <a:gd name="adj" fmla="val 25000"/>
              </a:avLst>
            </a:prstGeom>
            <a:solidFill>
              <a:srgbClr val="0B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Rectangle 51"/>
            <p:cNvSpPr/>
            <p:nvPr/>
          </p:nvSpPr>
          <p:spPr>
            <a:xfrm>
              <a:off x="8183879" y="1783080"/>
              <a:ext cx="45720" cy="128016"/>
            </a:xfrm>
            <a:prstGeom prst="rect">
              <a:avLst/>
            </a:prstGeom>
            <a:solidFill>
              <a:srgbClr val="0E9A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Rounded Rectangle 52"/>
            <p:cNvSpPr/>
            <p:nvPr/>
          </p:nvSpPr>
          <p:spPr>
            <a:xfrm>
              <a:off x="7690104" y="1627632"/>
              <a:ext cx="438912" cy="448056"/>
            </a:xfrm>
            <a:prstGeom prst="roundRect">
              <a:avLst>
                <a:gd name="adj" fmla="val 20000"/>
              </a:avLst>
            </a:prstGeom>
            <a:solidFill>
              <a:srgbClr val="1E4A7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Heart 53"/>
            <p:cNvSpPr/>
            <p:nvPr/>
          </p:nvSpPr>
          <p:spPr>
            <a:xfrm>
              <a:off x="7772400" y="1737360"/>
              <a:ext cx="274320" cy="246888"/>
            </a:xfrm>
            <a:prstGeom prst="heart">
              <a:avLst/>
            </a:prstGeom>
            <a:solidFill>
              <a:srgbClr val="7FD6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34" name="TurtleBot3 Burger illustration"/>
          <p:cNvGrpSpPr/>
          <p:nvPr/>
        </p:nvGrpSpPr>
        <p:grpSpPr>
          <a:xfrm>
            <a:off x="941832" y="4389120"/>
            <a:ext cx="1316736" cy="1207008"/>
            <a:chOff x="941832" y="1655064"/>
            <a:chExt cx="1316736" cy="1207008"/>
          </a:xfrm>
        </p:grpSpPr>
        <p:sp>
          <p:nvSpPr>
            <p:cNvPr id="55" name="Oval 54"/>
            <p:cNvSpPr/>
            <p:nvPr/>
          </p:nvSpPr>
          <p:spPr>
            <a:xfrm>
              <a:off x="960120" y="2761488"/>
              <a:ext cx="1280160" cy="100584"/>
            </a:xfrm>
            <a:prstGeom prst="ellipse">
              <a:avLst/>
            </a:prstGeom>
            <a:solidFill>
              <a:srgbClr val="D5E4E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Rounded Rectangle 55"/>
            <p:cNvSpPr/>
            <p:nvPr/>
          </p:nvSpPr>
          <p:spPr>
            <a:xfrm>
              <a:off x="941832" y="2441448"/>
              <a:ext cx="182880" cy="292608"/>
            </a:xfrm>
            <a:prstGeom prst="roundRect">
              <a:avLst>
                <a:gd name="adj" fmla="val 40000"/>
              </a:avLst>
            </a:prstGeom>
            <a:solidFill>
              <a:srgbClr val="3341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2075688" y="2441448"/>
              <a:ext cx="182880" cy="292608"/>
            </a:xfrm>
            <a:prstGeom prst="roundRect">
              <a:avLst>
                <a:gd name="adj" fmla="val 40000"/>
              </a:avLst>
            </a:prstGeom>
            <a:solidFill>
              <a:srgbClr val="3341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1124712" y="1920240"/>
              <a:ext cx="45720" cy="640080"/>
            </a:xfrm>
            <a:prstGeom prst="rect">
              <a:avLst/>
            </a:prstGeom>
            <a:solidFill>
              <a:srgbClr val="9AA9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2029967" y="1920240"/>
              <a:ext cx="45720" cy="640080"/>
            </a:xfrm>
            <a:prstGeom prst="rect">
              <a:avLst/>
            </a:prstGeom>
            <a:solidFill>
              <a:srgbClr val="9AA9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1325880" y="2350008"/>
              <a:ext cx="548640" cy="182880"/>
            </a:xfrm>
            <a:prstGeom prst="roundRect">
              <a:avLst>
                <a:gd name="adj" fmla="val 20000"/>
              </a:avLst>
            </a:prstGeom>
            <a:solidFill>
              <a:srgbClr val="1E4A7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Rounded Rectangle 60"/>
            <p:cNvSpPr/>
            <p:nvPr/>
          </p:nvSpPr>
          <p:spPr>
            <a:xfrm>
              <a:off x="1371600" y="2121408"/>
              <a:ext cx="457200" cy="182880"/>
            </a:xfrm>
            <a:prstGeom prst="roundRect">
              <a:avLst>
                <a:gd name="adj" fmla="val 20000"/>
              </a:avLst>
            </a:prstGeom>
            <a:solidFill>
              <a:srgbClr val="0E9A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1051560" y="2523744"/>
              <a:ext cx="1097280" cy="91440"/>
            </a:xfrm>
            <a:prstGeom prst="roundRect">
              <a:avLst>
                <a:gd name="adj" fmla="val 50000"/>
              </a:avLst>
            </a:prstGeom>
            <a:solidFill>
              <a:srgbClr val="0B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1051560" y="2313432"/>
              <a:ext cx="1097280" cy="91440"/>
            </a:xfrm>
            <a:prstGeom prst="roundRect">
              <a:avLst>
                <a:gd name="adj" fmla="val 50000"/>
              </a:avLst>
            </a:prstGeom>
            <a:solidFill>
              <a:srgbClr val="0B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ounded Rectangle 63"/>
            <p:cNvSpPr/>
            <p:nvPr/>
          </p:nvSpPr>
          <p:spPr>
            <a:xfrm>
              <a:off x="1051560" y="2103120"/>
              <a:ext cx="1097280" cy="91440"/>
            </a:xfrm>
            <a:prstGeom prst="roundRect">
              <a:avLst>
                <a:gd name="adj" fmla="val 50000"/>
              </a:avLst>
            </a:prstGeom>
            <a:solidFill>
              <a:srgbClr val="0B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Rounded Rectangle 64"/>
            <p:cNvSpPr/>
            <p:nvPr/>
          </p:nvSpPr>
          <p:spPr>
            <a:xfrm>
              <a:off x="1051560" y="1892807"/>
              <a:ext cx="1097280" cy="91440"/>
            </a:xfrm>
            <a:prstGeom prst="roundRect">
              <a:avLst>
                <a:gd name="adj" fmla="val 50000"/>
              </a:avLst>
            </a:prstGeom>
            <a:solidFill>
              <a:srgbClr val="0B1F3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1417320" y="1700784"/>
              <a:ext cx="365760" cy="182880"/>
            </a:xfrm>
            <a:prstGeom prst="roundRect">
              <a:avLst>
                <a:gd name="adj" fmla="val 30000"/>
              </a:avLst>
            </a:prstGeom>
            <a:solidFill>
              <a:srgbClr val="33415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Oval 66"/>
            <p:cNvSpPr/>
            <p:nvPr/>
          </p:nvSpPr>
          <p:spPr>
            <a:xfrm>
              <a:off x="1417320" y="1655064"/>
              <a:ext cx="365760" cy="91440"/>
            </a:xfrm>
            <a:prstGeom prst="ellipse">
              <a:avLst/>
            </a:prstGeom>
            <a:solidFill>
              <a:srgbClr val="0E9A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1929384" y="1792224"/>
              <a:ext cx="36576" cy="109728"/>
            </a:xfrm>
            <a:prstGeom prst="rect">
              <a:avLst/>
            </a:prstGeom>
            <a:solidFill>
              <a:srgbClr val="9AA9B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Rounded Rectangle 68"/>
            <p:cNvSpPr/>
            <p:nvPr/>
          </p:nvSpPr>
          <p:spPr>
            <a:xfrm>
              <a:off x="1856232" y="1700784"/>
              <a:ext cx="274320" cy="109728"/>
            </a:xfrm>
            <a:prstGeom prst="roundRect">
              <a:avLst>
                <a:gd name="adj" fmla="val 30000"/>
              </a:avLst>
            </a:prstGeom>
            <a:solidFill>
              <a:srgbClr val="0E9AA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Oval 69"/>
            <p:cNvSpPr/>
            <p:nvPr/>
          </p:nvSpPr>
          <p:spPr>
            <a:xfrm>
              <a:off x="2011680" y="1719072"/>
              <a:ext cx="73152" cy="7315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5" name="Rectangle 9"/>
          <p:cNvSpPr/>
          <p:nvPr/>
        </p:nvSpPr>
        <p:spPr>
          <a:xfrm>
            <a:off x="9189720" y="5303520"/>
            <a:ext cx="2423160" cy="960120"/>
          </a:xfrm>
          <a:prstGeom prst="roundRect">
            <a:avLst>
              <a:gd name="adj" fmla="val 12000"/>
            </a:avLst>
          </a:prstGeom>
          <a:solidFill>
            <a:srgbClr val="F3EEFF"/>
          </a:solidFill>
          <a:ln w="22225">
            <a:solidFill>
              <a:srgbClr val="7C3AED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58368" rtlCol="0" anchor="ctr"/>
          <a:lstStyle/>
          <a:p>
            <a:pPr algn="l"/>
            <a:r>
              <a:rPr sz="1300" b="1">
                <a:solidFill>
                  <a:srgbClr val="0B1F3A"/>
                </a:solidFill>
                <a:latin typeface="Calibri"/>
              </a:rPr>
              <a:t>User Interface / Training Dashboard</a:t>
            </a:r>
          </a:p>
          <a:p>
            <a:pPr algn="l"/>
            <a:r>
              <a:rPr sz="1050">
                <a:solidFill>
                  <a:srgbClr val="5B6B7F"/>
                </a:solidFill>
                <a:latin typeface="Calibri"/>
              </a:rPr>
              <a:t>Visualizes exercise data and training statistics.</a:t>
            </a:r>
          </a:p>
        </p:txBody>
      </p:sp>
      <p:pic>
        <p:nvPicPr>
          <p:cNvPr id="76" name="Picture 75" descr="Dashboard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312" y="5600700"/>
            <a:ext cx="365760" cy="365760"/>
          </a:xfrm>
          <a:prstGeom prst="rect">
            <a:avLst/>
          </a:prstGeom>
        </p:spPr>
      </p:pic>
      <p:sp>
        <p:nvSpPr>
          <p:cNvPr id="201" name="Clone 201"/>
          <p:cNvSpPr txBox="1">
            <a:spLocks/>
          </p:cNvSpPr>
          <p:nvPr/>
        </p:nvSpPr>
        <p:spPr>
          <a:xfrm>
            <a:off x="6492240" y="3639312"/>
            <a:ext cx="2103120" cy="41148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lang="en-US" sz="1050" b="0">
                <a:solidFill>
                  <a:srgbClr val="5B6B7F"/>
                </a:solidFill>
                <a:latin typeface="Calibri"/>
              </a:rPr>
              <a:t>Repetition count · duration · pace</a:t>
            </a:r>
          </a:p>
        </p:txBody>
      </p:sp>
      <p:sp>
        <p:nvSpPr>
          <p:cNvPr id="202" name="Clone 202"/>
          <p:cNvSpPr/>
          <p:nvPr/>
        </p:nvSpPr>
        <p:spPr>
          <a:xfrm>
            <a:off x="4572000" y="1440180"/>
            <a:ext cx="2651760" cy="914400"/>
          </a:xfrm>
          <a:prstGeom prst="roundRect">
            <a:avLst>
              <a:gd name="adj" fmla="val 12000"/>
            </a:avLst>
          </a:prstGeom>
          <a:solidFill>
            <a:srgbClr val="E3F3F5"/>
          </a:solidFill>
          <a:ln w="22225">
            <a:solidFill>
              <a:srgbClr val="0E9AA7"/>
            </a:solidFill>
          </a:ln>
          <a:effectLst>
            <a:outerShdw blurRad="88900" dist="31750" dir="5400000" algn="t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85800" rIns="137160" rtlCol="0" anchor="ctr"/>
          <a:lstStyle/>
          <a:p>
            <a:pPr algn="l"/>
            <a:r>
              <a:rPr sz="1300" b="1" dirty="0">
                <a:solidFill>
                  <a:srgbClr val="0B1F3A"/>
                </a:solidFill>
                <a:latin typeface="Calibri"/>
              </a:rPr>
              <a:t>Raspberry Pi –Heart-rate Receiver</a:t>
            </a:r>
          </a:p>
        </p:txBody>
      </p:sp>
      <p:cxnSp>
        <p:nvCxnSpPr>
          <p:cNvPr id="203" name="Clone 203"/>
          <p:cNvCxnSpPr/>
          <p:nvPr/>
        </p:nvCxnSpPr>
        <p:spPr>
          <a:xfrm>
            <a:off x="3017520" y="1897380"/>
            <a:ext cx="1554480" cy="0"/>
          </a:xfrm>
          <a:prstGeom prst="line">
            <a:avLst/>
          </a:prstGeom>
          <a:ln w="28575">
            <a:solidFill>
              <a:srgbClr val="0E9A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lone 204"/>
          <p:cNvCxnSpPr/>
          <p:nvPr/>
        </p:nvCxnSpPr>
        <p:spPr>
          <a:xfrm>
            <a:off x="7223760" y="1897380"/>
            <a:ext cx="1371600" cy="0"/>
          </a:xfrm>
          <a:prstGeom prst="line">
            <a:avLst/>
          </a:prstGeom>
          <a:ln w="28575">
            <a:solidFill>
              <a:srgbClr val="0E9AA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Clone 205"/>
          <p:cNvSpPr txBox="1"/>
          <p:nvPr/>
        </p:nvSpPr>
        <p:spPr>
          <a:xfrm>
            <a:off x="7223760" y="1554480"/>
            <a:ext cx="1371600" cy="274320"/>
          </a:xfrm>
          <a:prstGeom prst="rect">
            <a:avLst/>
          </a:prstGeom>
          <a:noFill/>
        </p:spPr>
        <p:txBody>
          <a:bodyPr wrap="none" lIns="27432" tIns="18288" rIns="27432" bIns="18288" anchor="ctr">
            <a:spAutoFit/>
          </a:bodyPr>
          <a:lstStyle/>
          <a:p>
            <a:pPr algn="ctr"/>
            <a:r>
              <a:rPr sz="1150" b="1" dirty="0">
                <a:solidFill>
                  <a:srgbClr val="0E9AA7"/>
                </a:solidFill>
                <a:latin typeface="Calibri"/>
              </a:rPr>
              <a:t>/</a:t>
            </a:r>
            <a:r>
              <a:rPr sz="1150" b="1" dirty="0" err="1">
                <a:solidFill>
                  <a:srgbClr val="0E9AA7"/>
                </a:solidFill>
                <a:latin typeface="Calibri"/>
              </a:rPr>
              <a:t>heart_rate</a:t>
            </a:r>
            <a:r>
              <a:rPr sz="1150" b="1" dirty="0">
                <a:solidFill>
                  <a:srgbClr val="0E9AA7"/>
                </a:solidFill>
                <a:latin typeface="Calibri"/>
              </a:rPr>
              <a:t>/bpm</a:t>
            </a:r>
          </a:p>
        </p:txBody>
      </p:sp>
      <p:sp>
        <p:nvSpPr>
          <p:cNvPr id="206" name="Clone 206"/>
          <p:cNvSpPr txBox="1"/>
          <p:nvPr/>
        </p:nvSpPr>
        <p:spPr>
          <a:xfrm>
            <a:off x="3154680" y="1984248"/>
            <a:ext cx="1280160" cy="411480"/>
          </a:xfrm>
          <a:prstGeom prst="rect">
            <a:avLst/>
          </a:prstGeom>
          <a:noFill/>
        </p:spPr>
        <p:txBody>
          <a:bodyPr wrap="square" lIns="27432" tIns="18288" rIns="27432" bIns="18288" anchor="ctr"/>
          <a:lstStyle/>
          <a:p>
            <a:pPr algn="ctr"/>
            <a:r>
              <a:rPr sz="1050" b="1" dirty="0">
                <a:solidFill>
                  <a:srgbClr val="0E9AA7"/>
                </a:solidFill>
                <a:latin typeface="Calibri"/>
              </a:rPr>
              <a:t>Bluetooth</a:t>
            </a:r>
          </a:p>
        </p:txBody>
      </p:sp>
      <p:pic>
        <p:nvPicPr>
          <p:cNvPr id="207" name="Bluetooth symbol" descr="icon-bluetooth-fd6a409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1417320"/>
            <a:ext cx="384048" cy="384048"/>
          </a:xfrm>
          <a:prstGeom prst="rect">
            <a:avLst/>
          </a:prstGeom>
        </p:spPr>
      </p:pic>
      <p:pic>
        <p:nvPicPr>
          <p:cNvPr id="208" name="Raspberry Pi receiver icon" descr="icon-developer-board-9f3f029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6592" y="169164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734</Words>
  <Application>Microsoft Macintosh PowerPoint</Application>
  <PresentationFormat>Widescreen</PresentationFormat>
  <Paragraphs>138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Andriana Sima</dc:creator>
  <cp:lastModifiedBy>Andriana Sima</cp:lastModifiedBy>
  <cp:revision>12</cp:revision>
  <dcterms:created xsi:type="dcterms:W3CDTF">2026-10-30T20:57:00Z</dcterms:created>
  <dcterms:modified xsi:type="dcterms:W3CDTF">2026-10-30T22:56:34Z</dcterms:modified>
</cp:coreProperties>
</file>